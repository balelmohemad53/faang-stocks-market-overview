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QUANTITATIVE FINANCIAL ANALYTICS &amp; MACHINE LEARNING PIPELINE</a:t>
            </a:r>
          </a:p>
          <a:p>
            <a:pPr>
              <a:spcAft>
                <a:spcPts val="200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FAANG Stocks Performance &amp;</a:t>
            </a:r>
            <a:br/>
            <a:r>
              <a:t>Predictive Modeling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End-to-End Analysis: Data Cleaning, EDA, Technical Indicators, Regression, Classification &amp; Power BI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5303520"/>
            <a:ext cx="1036289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44068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Team Project Presentation  |  Dataset: 26,565 Rows (1997 - Present)  |  FAANG: META, AMZN, AAPL, NFLX, GOOGL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1: DATA ARCHITECTURE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Data Pipeline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Data Cleaning &amp; Health Checks</a:t>
            </a:r>
          </a:p>
          <a:p>
            <a:pPr>
              <a:spcBef>
                <a:spcPts val="1200"/>
              </a:spcBef>
              <a:defRPr b="1" sz="1400">
                <a:solidFill>
                  <a:srgbClr val="F8FAFC"/>
                </a:solidFill>
              </a:defRPr>
            </a:pPr>
            <a:r>
              <a:t>• 26,565 Total Records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Zero missing values across all 12 key financial attributes.</a:t>
            </a:r>
          </a:p>
          <a:p>
            <a:pPr>
              <a:spcBef>
                <a:spcPts val="1200"/>
              </a:spcBef>
              <a:defRPr b="1" sz="1400">
                <a:solidFill>
                  <a:srgbClr val="F8FAFC"/>
                </a:solidFill>
              </a:defRPr>
            </a:pPr>
            <a:r>
              <a:t>• 0 Duplicate Rows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Strict data integrity verified before running exploratory modeling.</a:t>
            </a:r>
          </a:p>
          <a:p>
            <a:pPr>
              <a:spcBef>
                <a:spcPts val="1200"/>
              </a:spcBef>
              <a:defRPr b="1" sz="1400">
                <a:solidFill>
                  <a:srgbClr val="F8FAFC"/>
                </a:solidFill>
              </a:defRPr>
            </a:pPr>
            <a:r>
              <a:t>• Sequential Datetime Sort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Converted Date column to datetime64 and strictly sorted by [Company, Date].</a:t>
            </a:r>
          </a:p>
          <a:p>
            <a:pPr>
              <a:spcBef>
                <a:spcPts val="1200"/>
              </a:spcBef>
              <a:defRPr b="1" sz="1400">
                <a:solidFill>
                  <a:srgbClr val="F8FAFC"/>
                </a:solidFill>
              </a:defRPr>
            </a:pPr>
            <a:r>
              <a:t>• Clean Asset Coverage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Covers complete trading history for Meta, Amazon, Apple, Netflix, and Google.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ADE80"/>
                </a:solidFill>
              </a:defRPr>
            </a:pPr>
            <a:r>
              <a:t>Python Execution Logic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Ensure Date Datetime Type</a:t>
            </a:r>
            <a:br/>
            <a:r>
              <a:t>df['Date'] = pd.to_datetime(df['Date'])</a:t>
            </a:r>
            <a:br/>
            <a:br/>
            <a:r>
              <a:t># Sequential Sorting by Asset &amp; Time</a:t>
            </a:r>
            <a:br/>
            <a:r>
              <a:t>df = df.sort_values(</a:t>
            </a:r>
            <a:br/>
            <a:r>
              <a:t>    by=['Source.Name', 'Date']</a:t>
            </a:r>
            <a:br/>
            <a:r>
              <a:t>).reset_index(drop=True)</a:t>
            </a:r>
            <a:br/>
            <a:br/>
            <a:r>
              <a:t># Validate Data Shape &amp; Health</a:t>
            </a:r>
            <a:br/>
            <a:r>
              <a:t>assert df.isnull().sum().sum() == 0</a:t>
            </a:r>
            <a:br/>
            <a:r>
              <a:t>assert df.duplicated().sum() ==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2: EXPLORATORY DATA ANALYSIS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Historical Growth &amp; Cumulative Returns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Amazon (AMZN)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4ADE80"/>
                </a:solidFill>
              </a:defRPr>
            </a:pPr>
            <a:r>
              <a:t>+160,649.99%</a:t>
            </a:r>
          </a:p>
          <a:p>
            <a:pPr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First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$1.96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Last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$3,148.02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116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Apple (AAPL)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+132,409.05%</a:t>
            </a:r>
          </a:p>
          <a:p>
            <a:pPr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First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$0.10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Last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$134.18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20116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Netflix (NFLX)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B923C"/>
                </a:solidFill>
              </a:defRPr>
            </a:pPr>
            <a:r>
              <a:t>+41,575.69%</a:t>
            </a:r>
          </a:p>
          <a:p>
            <a:pPr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First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$1.20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Last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$498.62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20116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Google (GOOGL)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8FAFC"/>
                </a:solidFill>
              </a:defRPr>
            </a:pPr>
            <a:r>
              <a:t>+3,048.55%</a:t>
            </a:r>
          </a:p>
          <a:p>
            <a:pPr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First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$50.22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Last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$1,581.21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645920"/>
            <a:ext cx="20116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Meta (META)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94A3B8"/>
                </a:solidFill>
              </a:defRPr>
            </a:pPr>
            <a:r>
              <a:t>+586.22%</a:t>
            </a:r>
          </a:p>
          <a:p>
            <a:pPr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First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$38.23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Last Price: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$262.34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2: RISK &amp; RETURN ANALYSIS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Asset Risk Profile &amp; Volatility Trade-off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B923C"/>
                </a:solidFill>
              </a:defRPr>
            </a:pPr>
            <a:r>
              <a:t>High Beta / Volatility Assets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Amazon (AMZN)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   Daily Return Std Dev: 3.72% | Max Day: +34.5%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Highest price swings; offers massive long-term growth driven by high volatility.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Netflix (NFLX)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   Daily Return Std Dev: 3.63% | Max Day: +42.2%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Aggressive growth trajectory accompanied by frequent sharp daily fluctuations.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Apple (AAPL)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   Daily Return Std Dev: 2.90% | Min Day: -51.9%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High upside return potential balanced by historical split &amp; crisis drops.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ADE80"/>
                </a:solidFill>
              </a:defRPr>
            </a:pPr>
            <a:r>
              <a:t>Stable / Diversification Assets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Google (GOOGL)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   Daily Return Std Dev: 1.93% (Lowest in FAANG)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Demonstrates remarkable price stability and low risk profile among mega-caps.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Meta (META)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   Daily Return Std Dev: 2.40% | Average Return: 0.10%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Balanced risk-return performance with moderate daily standard deviation.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Key Takeaway for Portfolios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   Strategic Asset Allocation Anchor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Google acts as a stabilizing anchor, while Netflix/Amazon provide portfolio growth drivers.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3: FEATURE PIPELINE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Predictive Feature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Derived Technical Indicators &amp; Target Construction</a:t>
            </a:r>
          </a:p>
          <a:p>
            <a:pPr>
              <a:spcBef>
                <a:spcPts val="1000"/>
              </a:spcBef>
              <a:defRPr b="1" sz="1400">
                <a:solidFill>
                  <a:srgbClr val="4ADE80"/>
                </a:solidFill>
              </a:defRPr>
            </a:pPr>
            <a:r>
              <a:t>• Lag Features (Close_Lag1, Close_Lag5):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Captures recent price momentum and autocorrelation from previous 1-day and 5-day closing prices.</a:t>
            </a:r>
          </a:p>
          <a:p>
            <a:pPr>
              <a:spcBef>
                <a:spcPts val="1000"/>
              </a:spcBef>
              <a:defRPr b="1" sz="1400">
                <a:solidFill>
                  <a:srgbClr val="4ADE80"/>
                </a:solidFill>
              </a:defRPr>
            </a:pPr>
            <a:r>
              <a:t>• Moving Averages (SMA_10, SMA_50):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Identifies short-term and medium-term trend direction and dynamic support/resistance levels.</a:t>
            </a:r>
          </a:p>
          <a:p>
            <a:pPr>
              <a:spcBef>
                <a:spcPts val="1000"/>
              </a:spcBef>
              <a:defRPr b="1" sz="1400">
                <a:solidFill>
                  <a:srgbClr val="4ADE80"/>
                </a:solidFill>
              </a:defRPr>
            </a:pPr>
            <a:r>
              <a:t>• Daily Price Range (High_Low_Range):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Measures intraday volatility (High - Low) to reflect market uncertainty.</a:t>
            </a:r>
          </a:p>
          <a:p>
            <a:pPr>
              <a:spcBef>
                <a:spcPts val="1000"/>
              </a:spcBef>
              <a:defRPr b="1" sz="1400">
                <a:solidFill>
                  <a:srgbClr val="4ADE80"/>
                </a:solidFill>
              </a:defRPr>
            </a:pPr>
            <a:r>
              <a:t>• Percentage Daily Return: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Standardized percentage change of the closing price to normalize inputs.</a:t>
            </a:r>
          </a:p>
          <a:p>
            <a:pPr>
              <a:spcBef>
                <a:spcPts val="1000"/>
              </a:spcBef>
              <a:defRPr b="1" sz="1400">
                <a:solidFill>
                  <a:srgbClr val="4ADE80"/>
                </a:solidFill>
              </a:defRPr>
            </a:pPr>
            <a:r>
              <a:t>• Target Variables: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Regression Target: Next-day Close Price (Target_Price) | Classification Target: Next-day Direction 1/0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4: DATA VALIDATION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Sequential Time-Series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Strict Temporal Splitting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No Random Shuffling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Standard random train_test_split is prohibited in financial time-series to avoid look-ahead bias.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80% Training / 20% Testing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First 80% of historical data is used for model fitting; the recent 20% unseen data evaluates performance.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Class Balance Verification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Target Direction distribution: 50.77% UP (1) vs 49.23% DOWN (0) — well-balanced class targets.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Scale Position Weight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Utilized scale_pos_weight = 0.97 in XGBoost to ensure unbiased classification.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ADE80"/>
                </a:solidFill>
              </a:defRPr>
            </a:pPr>
            <a:r>
              <a:t>Time-Series Split Code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  <a:latin typeface="Consolas"/>
              </a:defRPr>
            </a:pPr>
            <a:r>
              <a:t># Define Features &amp; Targets</a:t>
            </a:r>
            <a:br/>
            <a:r>
              <a:t>features = ['Close_Lag1', 'Close_Lag5',</a:t>
            </a:r>
            <a:br/>
            <a:r>
              <a:t>            'SMA_10', 'SMA_50',</a:t>
            </a:r>
            <a:br/>
            <a:r>
              <a:t>            'High_Low_Range', 'Daily_Return']</a:t>
            </a:r>
            <a:br/>
            <a:br/>
            <a:r>
              <a:t># Sequential 80/20 Train-Test Split</a:t>
            </a:r>
            <a:br/>
            <a:r>
              <a:t>train_size = int(len(df) * 0.8)</a:t>
            </a:r>
            <a:br/>
            <a:br/>
            <a:r>
              <a:t>X_train = X.iloc[:train_size]</a:t>
            </a:r>
            <a:br/>
            <a:r>
              <a:t>X_test  = X.iloc[train_size:]</a:t>
            </a:r>
            <a:br/>
            <a:br/>
            <a:r>
              <a:t>y_train_reg = y_reg.iloc[:train_size]</a:t>
            </a:r>
            <a:br/>
            <a:r>
              <a:t>y_test_reg  = y_reg.iloc[train_size:]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5: REGRESSION MODELS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Next-Day Price Prediction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</a:defRPr>
            </a:pPr>
            <a:r>
              <a:t>BEST MODEL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Linear Regression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Mean Absolute Error (MAE):</a:t>
            </a:r>
          </a:p>
          <a:p>
            <a:pPr>
              <a:defRPr sz="2200" b="1">
                <a:solidFill>
                  <a:srgbClr val="4ADE80"/>
                </a:solidFill>
              </a:defRPr>
            </a:pPr>
            <a:r>
              <a:t>$5.27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Root Mean Sq Error (RMSE):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$11.53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R² Score:</a:t>
            </a:r>
          </a:p>
          <a:p>
            <a:pPr>
              <a:defRPr sz="2200" b="1">
                <a:solidFill>
                  <a:srgbClr val="4ADE80"/>
                </a:solidFill>
              </a:defRPr>
            </a:pPr>
            <a:r>
              <a:t>0.9992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RUNNER UP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Random Forest Regressor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Mean Absolute Error (MAE):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$9.27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Root Mean Sq Error (RMSE):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$27.44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R² Score: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0.9956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923C"/>
                </a:solidFill>
              </a:defRPr>
            </a:pPr>
            <a:r>
              <a:t>BASELINE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XGBoost Regressor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Mean Absolute Error (MAE):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$11.01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Root Mean Sq Error (RMSE):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$30.18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R² Score: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0.9947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6: CLASSIFICATION &amp; TUNING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Market Direction Classification &amp; Hyperparameters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Classification Model Benchmarks</a:t>
            </a:r>
          </a:p>
          <a:p>
            <a:pPr>
              <a:spcBef>
                <a:spcPts val="800"/>
              </a:spcBef>
              <a:defRPr b="1" sz="1400">
                <a:solidFill>
                  <a:srgbClr val="F8FAFC"/>
                </a:solidFill>
              </a:defRPr>
            </a:pPr>
            <a:r>
              <a:t>• XGBoost Classifier (Best)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Accuracy: 50.46% | Precision: 50.93% | Recall: 77.45% | F1 Score: 0.6145</a:t>
            </a:r>
          </a:p>
          <a:p>
            <a:pPr>
              <a:spcBef>
                <a:spcPts val="800"/>
              </a:spcBef>
              <a:defRPr b="1" sz="1400">
                <a:solidFill>
                  <a:srgbClr val="F8FAFC"/>
                </a:solidFill>
              </a:defRPr>
            </a:pPr>
            <a:r>
              <a:t>• Random Forest Classifier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Accuracy: 50.36% | Precision: 51.13% | Recall: 60.07% | F1 Score: 0.5524</a:t>
            </a:r>
          </a:p>
          <a:p>
            <a:pPr>
              <a:spcBef>
                <a:spcPts val="800"/>
              </a:spcBef>
              <a:defRPr b="1" sz="1400">
                <a:solidFill>
                  <a:srgbClr val="F8FAFC"/>
                </a:solidFill>
              </a:defRPr>
            </a:pPr>
            <a:r>
              <a:t>• Logistic Regression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Accuracy: 50.46% | Precision: 52.19% | Recall: 33.87% | F1 Score: 0.4108</a:t>
            </a:r>
          </a:p>
          <a:p>
            <a:pPr>
              <a:spcBef>
                <a:spcPts val="800"/>
              </a:spcBef>
              <a:defRPr b="1" sz="1400">
                <a:solidFill>
                  <a:srgbClr val="F8FAFC"/>
                </a:solidFill>
              </a:defRPr>
            </a:pPr>
            <a:r>
              <a:t>• Key Finding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XGBoost captures 77.45% of upward market moves (High Recall), making it ideal for trend-following strategies.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ADE80"/>
                </a:solidFill>
              </a:defRPr>
            </a:pPr>
            <a:r>
              <a:t>Hyperparameter Optimization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Validation Strategy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TimeSeriesSplit (cv=3) to preserve temporal order during cross-validation.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Best XGBoost Parameters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• learning_rate: 0.05</a:t>
            </a:r>
            <a:br/>
            <a:r>
              <a:t>• max_depth: 5</a:t>
            </a:r>
            <a:br/>
            <a:r>
              <a:t>• n_estimators: 100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Scoring Metric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Optimized specifically for F1-Score to balance Precision and Recall on directional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7: SYSTEM INTEGRATION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Model Deployment &amp; BI Export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Generated Deliverables for Production &amp; Business Intelligence</a:t>
            </a:r>
          </a:p>
          <a:p>
            <a:pPr>
              <a:spcBef>
                <a:spcPts val="1600"/>
              </a:spcBef>
              <a:defRPr b="1" sz="1600">
                <a:solidFill>
                  <a:srgbClr val="4ADE80"/>
                </a:solidFill>
              </a:defRPr>
            </a:pPr>
            <a:r>
              <a:t>✔  FAANG_Predictions_For_BI.csv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  Contains test dataset merged with Predicted_Close_Price and Predicted_Market_Direction for Power BI integration.</a:t>
            </a:r>
          </a:p>
          <a:p>
            <a:pPr>
              <a:spcBef>
                <a:spcPts val="1600"/>
              </a:spcBef>
              <a:defRPr b="1" sz="1600">
                <a:solidFill>
                  <a:srgbClr val="4ADE80"/>
                </a:solidFill>
              </a:defRPr>
            </a:pPr>
            <a:r>
              <a:t>✔  faang_best_regression_model.pkl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  Serialized Linear Regression Pipeline (StandardScaler + Model) ready for real-time inference.</a:t>
            </a:r>
          </a:p>
          <a:p>
            <a:pPr>
              <a:spcBef>
                <a:spcPts val="1600"/>
              </a:spcBef>
              <a:defRPr b="1" sz="1600">
                <a:solidFill>
                  <a:srgbClr val="4ADE80"/>
                </a:solidFill>
              </a:defRPr>
            </a:pPr>
            <a:r>
              <a:t>✔  faang_best_classification_model.pkl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  Serialized Tuned XGBoost Pipeline ready for automated directional signaling.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8: POWER BI DASHBOARD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Interactive Financial Dashboard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KPI Metrics Cards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Total Trading Volume</a:t>
            </a:r>
            <a:br/>
            <a:r>
              <a:t>• All-Time High Price</a:t>
            </a:r>
            <a:br/>
            <a:r>
              <a:t>• Current Close Price</a:t>
            </a:r>
            <a:br/>
            <a:r>
              <a:t>• Cumulative Total Return %</a:t>
            </a:r>
            <a:br/>
            <a:r>
              <a:t>• Top Performing Stock 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</a:defRPr>
            </a:pPr>
            <a:r>
              <a:t>Technical Trend Visuals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Dynamic Time-Series Line Chart</a:t>
            </a:r>
            <a:br/>
            <a:r>
              <a:t>• SMA 50 vs SMA 200 Crossovers</a:t>
            </a:r>
            <a:br/>
            <a:r>
              <a:t>• High/Low Intraday Area Chart</a:t>
            </a:r>
            <a:br/>
            <a:r>
              <a:t>• Interactive Date &amp; Ticker Slicers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923C"/>
                </a:solidFill>
              </a:defRPr>
            </a:pPr>
            <a:r>
              <a:t>Risk vs Return Analytics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Average Daily Return %</a:t>
            </a:r>
            <a:br/>
            <a:r>
              <a:t>• Volatility (Std Dev)</a:t>
            </a:r>
            <a:br/>
            <a:r>
              <a:t>• Risk-Adjusted Return Ratio</a:t>
            </a:r>
            <a:br/>
            <a:r>
              <a:t>• Cross-Asset Correlation Scatter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CONCLUSION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Strategic Insights &amp; 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Key Takeaways for Portfolio Managers</a:t>
            </a:r>
          </a:p>
          <a:p>
            <a:pPr>
              <a:spcBef>
                <a:spcPts val="1200"/>
              </a:spcBef>
              <a:defRPr b="1" sz="1400">
                <a:solidFill>
                  <a:srgbClr val="4ADE80"/>
                </a:solidFill>
              </a:defRPr>
            </a:pPr>
            <a:r>
              <a:t>• Portfolio Diversification: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Google provides stable anchor characteristics (Std: 1.93%), while Amazon &amp; Netflix drive alpha (+160k% historical return).</a:t>
            </a:r>
          </a:p>
          <a:p>
            <a:pPr>
              <a:spcBef>
                <a:spcPts val="1200"/>
              </a:spcBef>
              <a:defRPr b="1" sz="1400">
                <a:solidFill>
                  <a:srgbClr val="4ADE80"/>
                </a:solidFill>
              </a:defRPr>
            </a:pPr>
            <a:r>
              <a:t>• Predictive Precision: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Linear Regression achieves an extraordinary MAE of $5.27 for next-day close price forecasting.</a:t>
            </a:r>
          </a:p>
          <a:p>
            <a:pPr>
              <a:spcBef>
                <a:spcPts val="1200"/>
              </a:spcBef>
              <a:defRPr b="1" sz="1400">
                <a:solidFill>
                  <a:srgbClr val="4ADE80"/>
                </a:solidFill>
              </a:defRPr>
            </a:pPr>
            <a:r>
              <a:t>• Directional Trading Advantage: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Tuned XGBoost classifier yields a 77.45% Recall on upward market movement, giving traders actionable trend signals.</a:t>
            </a:r>
          </a:p>
          <a:p>
            <a:pPr>
              <a:spcBef>
                <a:spcPts val="1200"/>
              </a:spcBef>
              <a:defRPr b="1" sz="1400">
                <a:solidFill>
                  <a:srgbClr val="4ADE80"/>
                </a:solidFill>
              </a:defRPr>
            </a:pPr>
            <a:r>
              <a:t>• End-to-End Synergy: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Combining Python EDA, Scikit-Learn/XGBoost pipelines, and Power BI dashboards creates an enterprise-grade analytics ecosystem.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